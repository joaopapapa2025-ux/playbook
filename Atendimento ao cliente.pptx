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8" r:id="rId3"/>
    <p:sldId id="258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95" r:id="rId15"/>
    <p:sldId id="287" r:id="rId16"/>
    <p:sldId id="288" r:id="rId17"/>
    <p:sldId id="289" r:id="rId18"/>
    <p:sldId id="290" r:id="rId19"/>
    <p:sldId id="299" r:id="rId20"/>
    <p:sldId id="297" r:id="rId21"/>
    <p:sldId id="291" r:id="rId22"/>
    <p:sldId id="292" r:id="rId23"/>
    <p:sldId id="293" r:id="rId2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239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7D3DB18-3398-65B7-9DAA-B041003954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4346774"/>
            <a:ext cx="6858000" cy="1066894"/>
          </a:xfrm>
        </p:spPr>
        <p:txBody>
          <a:bodyPr anchorCtr="1"/>
          <a:lstStyle>
            <a:lvl1pPr marL="0" indent="0" algn="ctr">
              <a:buNone/>
              <a:defRPr sz="2133" cap="all" spc="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B181E4D-BF24-18BF-6202-88A166AE77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E0C2D6F-BADC-47A0-98AB-3A59EC5DD18D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E5BA15-215A-0FA3-DA11-78127D0D850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35EF28-F75E-9419-46A4-30C1FDFDC0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A3C729-5814-443D-93F5-3B5371012BD2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823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8C33F5-ABA0-FF61-53E2-72D75FE1B42B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E4287EC-CE8B-6DEE-C672-F0A4B9A3932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2E7145-8AC3-46CB-B5AE-586351E689F5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CB6F1C4-E756-9BB7-1901-1BC9202BECB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3FDFE4-629E-AB0F-1182-FE68D68E9F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765359-8882-4649-B8A9-97EC26D3BB8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629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2B8266-91B4-EB86-0912-7206814B0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05674" y="4963884"/>
            <a:ext cx="6438125" cy="1125763"/>
          </a:xfrm>
        </p:spPr>
        <p:txBody>
          <a:bodyPr/>
          <a:lstStyle>
            <a:lvl1pPr marL="0" indent="0">
              <a:buNone/>
              <a:defRPr sz="2133" cap="all" spc="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234AE9B-53C0-32C2-011E-6C9F61E396A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B12D63D-6822-4A72-8EFD-58116FD38A97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0FEE024-6A26-3701-8857-027FAFA017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C090E6-2D31-1CCC-E83A-CC8470340A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140290E-D96C-4BB6-A3DE-A0E6402CC2DE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34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165D253-23D9-8996-7248-17C7709D25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8368" y="2159172"/>
            <a:ext cx="3733092" cy="40177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9A8CAB5-E1F1-3567-F4D4-1277C441234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746293" y="2159172"/>
            <a:ext cx="3739338" cy="401779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73D51A0-E1FF-F83A-EC85-48C8EC88FC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01B7A1-63A8-4D89-9C1B-B23CE8E9CB2B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35762D7-9D78-1FDE-90CC-1FDB7E4ED4D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8A8DAA90-26E8-E802-DAFE-E49BB2F017D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886A75F-F13B-43D6-9055-7F7E9785063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9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9E7B970-7497-E954-6438-DD19487F8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1010" y="1696321"/>
            <a:ext cx="3722650" cy="647696"/>
          </a:xfrm>
        </p:spPr>
        <p:txBody>
          <a:bodyPr anchor="b">
            <a:noAutofit/>
          </a:bodyPr>
          <a:lstStyle>
            <a:lvl1pPr marL="0" indent="0">
              <a:buNone/>
              <a:defRPr sz="1867" b="1" cap="all" spc="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5C4DEE1-1600-CE4B-A6DD-50369861F56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61010" y="2344027"/>
            <a:ext cx="3722650" cy="38333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B3F1B4D-52A9-F339-D7FB-C617CE437A3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742005" y="1696321"/>
            <a:ext cx="3740984" cy="647696"/>
          </a:xfrm>
        </p:spPr>
        <p:txBody>
          <a:bodyPr anchor="b">
            <a:noAutofit/>
          </a:bodyPr>
          <a:lstStyle>
            <a:lvl1pPr marL="0" indent="0">
              <a:buNone/>
              <a:defRPr sz="1867" b="1" cap="all" spc="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908F6E9-61FD-6937-57D0-67C8F6499B56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742005" y="2344027"/>
            <a:ext cx="3740984" cy="38333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DFA998F4-C8F0-213E-3C70-34E5943258C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C91450-2156-4143-B1AD-6DD3ECEC775B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858AC07-FF4E-8481-5EB9-10FE0E664EE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5B148D58-1FA1-B500-8B38-FCC93E685AD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CF1E22-D075-4D07-B60B-27A03BDC19AD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90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AC048720-365D-4858-BCA6-D80F0A32FB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3A9973F-BC72-49D1-866B-D43DC0F78F09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2F0396-F9EE-C4C7-A425-0045A3D8DF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63DB01A-253A-563B-B88B-81DBD6BB72F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DA3E81-0BE6-45D7-96EF-D6560ACE2AD5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13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03CCCE6-FF6D-F7A0-4018-A044340B325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6F1ACBD-385B-4BD2-31AD-A1E1D2E8F13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84CCEC-DB16-4BA4-A292-C735A1CF0188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CD45370-4C46-BCA3-54BA-0E5DC2B180D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074676" y="807872"/>
            <a:ext cx="4441862" cy="50531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2F2FF83-D621-97FD-08B5-183C991F7D7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9838" y="3000649"/>
            <a:ext cx="2730535" cy="2868335"/>
          </a:xfrm>
        </p:spPr>
        <p:txBody>
          <a:bodyPr anchor="b"/>
          <a:lstStyle>
            <a:lvl1pPr marL="0" indent="0">
              <a:buNone/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B7EFA168-3F53-D46D-7595-608F945EF26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D32803-2AC9-4483-84F0-49262C1CCADE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C96FB50-EA22-51AF-FF46-6EF3780387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4D8BEAE-F617-1A3C-7FDB-14A761869BC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2E9593-0A8E-4B15-B51B-A837F0B007E7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5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60C1FD1-0E47-4EFE-743A-4BEF8A683C64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3935559" y="919593"/>
            <a:ext cx="4580988" cy="5013609"/>
          </a:xfrm>
        </p:spPr>
        <p:txBody>
          <a:bodyPr/>
          <a:lstStyle>
            <a:lvl1pPr marL="0" indent="0">
              <a:buNone/>
              <a:defRPr lang="pt-BR" sz="4267"/>
            </a:lvl1pPr>
          </a:lstStyle>
          <a:p>
            <a:pPr lvl="0"/>
            <a:endParaRPr lang="pt-BR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113F918-CF5F-C204-0EB9-79AFF23A521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9838" y="3000649"/>
            <a:ext cx="2732913" cy="2868335"/>
          </a:xfrm>
        </p:spPr>
        <p:txBody>
          <a:bodyPr anchor="b"/>
          <a:lstStyle>
            <a:lvl1pPr marL="0" indent="0">
              <a:buNone/>
              <a:defRPr sz="2133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75E62346-9EB0-EA9D-0650-A655D1217D4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EB4874-8981-4532-87AD-0D445CF0716B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7F798C45-0B49-C6A3-57FD-A1E485075B7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B1E47D0-B01F-C735-12C3-3C6041F18E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844CD6B-BDBB-41D1-B3AF-F4BBA9817981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26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44169E19-B832-DDB4-BB54-620C77A8FDF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F75DEE3-0BDA-BC98-0A99-D87AFFE0FD4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1EC89D7-2D94-4DA2-9F5B-81F4D110DD67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DB05182-7119-A39A-1FF1-7B0BF34D00A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1C93CB1-73B5-AC74-818A-3791109DC08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27BAAC6-D76F-444B-A8B7-742E9A10F429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E0A15CEE-BF46-067D-F746-B9EA728D68A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28650" y="592284"/>
            <a:ext cx="5800725" cy="558467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95B2D5E-F8B0-04F4-894E-DF799857764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97C282A-7948-4247-B9C7-2A33E4844207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233EEAF-A017-0DA1-86ED-85906EF941A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D42B99-73FC-60B4-1E9E-B28DBF48F61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F8F9BB6-727C-4C83-8D09-551650939327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3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44F1C70-56C1-8A7A-F14D-C75DAFDAD801}"/>
              </a:ext>
            </a:extLst>
          </p:cNvPr>
          <p:cNvSpPr/>
          <p:nvPr/>
        </p:nvSpPr>
        <p:spPr>
          <a:xfrm>
            <a:off x="0" y="0"/>
            <a:ext cx="9144000" cy="6860157"/>
          </a:xfrm>
          <a:prstGeom prst="rect">
            <a:avLst/>
          </a:prstGeom>
          <a:solidFill>
            <a:srgbClr val="C0B7A5">
              <a:alpha val="15000"/>
            </a:srgbClr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CA8E90-628D-3911-EB47-8804D9EB4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329" y="588242"/>
            <a:ext cx="7837340" cy="12659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EA4CB5B-6CFE-B889-FEBD-DA3AFA54F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8368" y="2157984"/>
            <a:ext cx="7831836" cy="39038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3DF1A01-5783-F0CA-80A7-FA2F7CF453E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58368" y="6356351"/>
            <a:ext cx="20574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067" b="0" i="0" u="none" strike="noStrike" kern="1200" cap="all" spc="400" baseline="0">
                <a:solidFill>
                  <a:srgbClr val="35403A"/>
                </a:solidFill>
                <a:uFillTx/>
                <a:latin typeface="Aptos Light"/>
              </a:defRPr>
            </a:lvl1pPr>
          </a:lstStyle>
          <a:p>
            <a:pPr lvl="0"/>
            <a:fld id="{1F53F1E8-B640-4761-9DDC-37CE8B30A062}" type="datetime1">
              <a:rPr lang="en-US"/>
              <a:pPr lvl="0"/>
              <a:t>4/7/2026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9AC226-CB9C-F922-4A79-2133D98BB61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5349240" y="6356351"/>
            <a:ext cx="322326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067" b="0" i="0" u="none" strike="noStrike" kern="1200" cap="all" spc="400" baseline="0">
                <a:solidFill>
                  <a:srgbClr val="35403A"/>
                </a:solidFill>
                <a:uFillTx/>
                <a:latin typeface="Aptos Light"/>
              </a:defRPr>
            </a:lvl1pPr>
          </a:lstStyle>
          <a:p>
            <a:pPr lvl="0"/>
            <a:r>
              <a:rPr lang="en-US"/>
              <a:t>             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7AFDA2-1423-3E89-BD37-DC721DA913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572500" y="6356351"/>
            <a:ext cx="39090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67" b="0" i="0" u="none" strike="noStrike" kern="1200" cap="none" spc="0" baseline="0">
                <a:solidFill>
                  <a:srgbClr val="35403A"/>
                </a:solidFill>
                <a:uFillTx/>
                <a:latin typeface="Walbaum Display"/>
              </a:defRPr>
            </a:lvl1pPr>
          </a:lstStyle>
          <a:p>
            <a:pPr lvl="0"/>
            <a:fld id="{7B889377-7505-4A0E-9777-4519C752C9DC}" type="slidenum"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200" b="0" i="0" u="none" strike="noStrike" kern="1200" cap="none" spc="0" baseline="0">
          <a:solidFill>
            <a:srgbClr val="35403A"/>
          </a:solidFill>
          <a:uFillTx/>
          <a:latin typeface="Walbaum Display"/>
        </a:defRPr>
      </a:lvl1pPr>
    </p:titleStyle>
    <p:bodyStyle>
      <a:lvl1pPr marL="228600" marR="0" lvl="0" indent="-228600" algn="l" defTabSz="914400" rtl="0" fontAlgn="auto" hangingPunct="1">
        <a:lnSpc>
          <a:spcPct val="12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1600" b="0" i="0" u="none" strike="noStrike" kern="1200" cap="none" spc="0" baseline="0">
          <a:solidFill>
            <a:srgbClr val="35403A"/>
          </a:solidFill>
          <a:uFillTx/>
          <a:latin typeface="Aptos Light"/>
        </a:defRPr>
      </a:lvl1pPr>
      <a:lvl2pPr marL="457200" marR="0" lvl="1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35403A"/>
          </a:solidFill>
          <a:uFillTx/>
          <a:latin typeface="Aptos Light"/>
        </a:defRPr>
      </a:lvl2pPr>
      <a:lvl3pPr marL="685800" marR="0" lvl="2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200" b="0" i="0" u="none" strike="noStrike" kern="1200" cap="none" spc="0" baseline="0">
          <a:solidFill>
            <a:srgbClr val="35403A"/>
          </a:solidFill>
          <a:uFillTx/>
          <a:latin typeface="Aptos Light"/>
        </a:defRPr>
      </a:lvl3pPr>
      <a:lvl4pPr marL="914400" marR="0" lvl="3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100" b="0" i="0" u="none" strike="noStrike" kern="1200" cap="none" spc="0" baseline="0">
          <a:solidFill>
            <a:srgbClr val="35403A"/>
          </a:solidFill>
          <a:uFillTx/>
          <a:latin typeface="Aptos Light"/>
        </a:defRPr>
      </a:lvl4pPr>
      <a:lvl5pPr marL="1143000" marR="0" lvl="4" indent="-22860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100" b="0" i="0" u="none" strike="noStrike" kern="1200" cap="none" spc="0" baseline="0">
          <a:solidFill>
            <a:srgbClr val="35403A"/>
          </a:solidFill>
          <a:uFillTx/>
          <a:latin typeface="Aptos Ligh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7458-8202-E53E-3FCE-F50DD33FB0A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0" y="1122361"/>
            <a:ext cx="6858000" cy="22093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rmAutofit/>
          </a:bodyPr>
          <a:lstStyle/>
          <a:p>
            <a:pPr lvl="0" algn="ctr"/>
            <a:r>
              <a:rPr lang="pt-BR" sz="4200" b="1" dirty="0">
                <a:solidFill>
                  <a:srgbClr val="0070C0"/>
                </a:solidFill>
                <a:latin typeface="Neue Haas Grotesk Text Pro"/>
              </a:rPr>
              <a:t>Atendimento ao Cliente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C24A1-CF90-76EC-54B1-5B9A4480B59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3526246"/>
            <a:ext cx="6858000" cy="499545"/>
          </a:xfrm>
        </p:spPr>
        <p:txBody>
          <a:bodyPr/>
          <a:lstStyle/>
          <a:p>
            <a:pPr lvl="0">
              <a:lnSpc>
                <a:spcPct val="110000"/>
              </a:lnSpc>
            </a:pPr>
            <a:r>
              <a:rPr lang="pt-BR" sz="1800">
                <a:solidFill>
                  <a:srgbClr val="282828"/>
                </a:solidFill>
              </a:rPr>
              <a:t>João Tadra</a:t>
            </a: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9A1797F5-BF15-52BC-0575-4B2C89943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3" y="169721"/>
            <a:ext cx="2448790" cy="121919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A91A-371B-8499-4A9C-3BB7FBA398FE}"/>
              </a:ext>
            </a:extLst>
          </p:cNvPr>
          <p:cNvSpPr txBox="1"/>
          <p:nvPr/>
        </p:nvSpPr>
        <p:spPr>
          <a:xfrm>
            <a:off x="653329" y="502920"/>
            <a:ext cx="7850590" cy="546811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8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Sou um entusiasta em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8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experiência do cliente de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8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maneira geral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48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1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História Ícaro</a:t>
            </a:r>
          </a:p>
        </p:txBody>
      </p:sp>
      <p:pic>
        <p:nvPicPr>
          <p:cNvPr id="3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E1285553-C0C3-8FB4-B382-5BB4119C4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30BA-20B5-68CB-F554-4E544437BE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824" y="649224"/>
            <a:ext cx="7837340" cy="8595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36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Por que estamos falando disso?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1CEA6-48AB-F773-8721-835A659C3F0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Mercados estão mais competitivos e comoditizados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Produto bom não sustenta empresa sozinho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Experiência virou fator decisivo de crescimento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Dentro desse cenário: atendimento e vendas mudaram</a:t>
            </a: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6F4BE7F0-3D3F-C12B-B9F7-57B816EAC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8747-3186-F142-25BE-45C8E70FDF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329" y="588242"/>
            <a:ext cx="7837340" cy="12659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36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Canais de atendimento</a:t>
            </a:r>
            <a:br>
              <a:rPr lang="pt-BR" sz="36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12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Remoto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3A49-F2B9-FF76-3A57-C6E137D83BC7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E-mail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WhatsApp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Videoconferência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Telefone</a:t>
            </a: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D1ACB6C0-D58C-87C2-1377-4FE747D20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D107-8A0C-7922-438B-D74D45764F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329" y="2587751"/>
            <a:ext cx="7804870" cy="28529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60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Prestar muita</a:t>
            </a:r>
            <a:br>
              <a:rPr lang="pt-BR" sz="60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60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atenção no que o</a:t>
            </a:r>
            <a:br>
              <a:rPr lang="pt-BR" sz="60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60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cliente precisa.</a:t>
            </a:r>
            <a:endParaRPr lang="pt-BR" sz="2400" b="1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9BCC83-4B11-212B-A551-51170F32D958}"/>
              </a:ext>
            </a:extLst>
          </p:cNvPr>
          <p:cNvSpPr txBox="1"/>
          <p:nvPr/>
        </p:nvSpPr>
        <p:spPr>
          <a:xfrm>
            <a:off x="653329" y="588242"/>
            <a:ext cx="7837340" cy="126593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Dica de ouro:</a:t>
            </a:r>
            <a:endParaRPr lang="pt-BR" sz="12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F0527C12-A07A-9D6C-F137-D9B0708A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21A59-4309-EF42-49B6-6A62B642F140}"/>
              </a:ext>
            </a:extLst>
          </p:cNvPr>
          <p:cNvSpPr txBox="1"/>
          <p:nvPr/>
        </p:nvSpPr>
        <p:spPr>
          <a:xfrm>
            <a:off x="571033" y="621792"/>
            <a:ext cx="7837340" cy="62887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O jeito Disney de encantar clientes </a:t>
            </a:r>
            <a:endParaRPr lang="pt-BR" sz="12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3" name="Picture 2" descr="O jeito Disney de encantar os clientes: Do atendimento excepcional ao nunca  parar de crescer e acreditar | Amazon.com.br">
            <a:extLst>
              <a:ext uri="{FF2B5EF4-FFF2-40B4-BE49-F238E27FC236}">
                <a16:creationId xmlns:a16="http://schemas.microsoft.com/office/drawing/2014/main" id="{E18F0541-47ED-2093-0A30-D880435E6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862538" y="1561566"/>
            <a:ext cx="3254331" cy="48646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8D15C24D-66C2-E150-1463-8D955C9D9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3F94-1974-8CE7-1A62-13165EA6AE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824" y="390320"/>
            <a:ext cx="7837340" cy="811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36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O que eu aprendi?</a:t>
            </a:r>
            <a:endParaRPr lang="pt-BR" sz="1200" b="1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59CEE-EF9B-F895-08C5-3C6084D2578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3329" y="1673352"/>
            <a:ext cx="7831836" cy="4453128"/>
          </a:xfrm>
        </p:spPr>
        <p:txBody>
          <a:bodyPr/>
          <a:lstStyle/>
          <a:p>
            <a:pPr marL="0" lvl="0" indent="0">
              <a:lnSpc>
                <a:spcPct val="110000"/>
              </a:lnSpc>
              <a:buNone/>
            </a:pPr>
            <a:r>
              <a:rPr lang="pt-BR" sz="22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A experiência do cliente é fundamental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pt-BR" sz="1500">
                <a:latin typeface="Calibri" pitchFamily="34"/>
                <a:ea typeface="Calibri" pitchFamily="34"/>
                <a:cs typeface="Calibri" pitchFamily="34"/>
              </a:rPr>
              <a:t>A Disney foca em criar experiências memoráveis para os clientes, indo além do simples fornecimento de produtos ou serviços. </a:t>
            </a:r>
          </a:p>
          <a:p>
            <a:pPr marL="0" lvl="0" indent="0">
              <a:lnSpc>
                <a:spcPct val="110000"/>
              </a:lnSpc>
              <a:buNone/>
            </a:pPr>
            <a:endParaRPr lang="pt-BR" sz="150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lvl="0" indent="0">
              <a:lnSpc>
                <a:spcPct val="110000"/>
              </a:lnSpc>
              <a:buNone/>
            </a:pPr>
            <a:r>
              <a:rPr lang="pt-BR" sz="22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Cultura organizacional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pt-BR" sz="1500">
                <a:latin typeface="Calibri" pitchFamily="34"/>
                <a:ea typeface="Calibri" pitchFamily="34"/>
                <a:cs typeface="Calibri" pitchFamily="34"/>
              </a:rPr>
              <a:t>A cultura da empresa é baseada em valores como trabalho em equipe, respeito e atenção ao detalhe. Todos os funcionários (ou "membros do elenco") são treinados para manter esses padrões. </a:t>
            </a:r>
          </a:p>
          <a:p>
            <a:pPr marL="0" lvl="0" indent="0">
              <a:lnSpc>
                <a:spcPct val="110000"/>
              </a:lnSpc>
              <a:buNone/>
            </a:pPr>
            <a:endParaRPr lang="pt-BR" sz="150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lvl="0" indent="0">
              <a:lnSpc>
                <a:spcPct val="110000"/>
              </a:lnSpc>
              <a:buNone/>
            </a:pPr>
            <a:r>
              <a:rPr lang="pt-BR" sz="22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A importância do detalhe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pt-BR" sz="1400">
                <a:latin typeface="Calibri" pitchFamily="34"/>
                <a:ea typeface="Calibri" pitchFamily="34"/>
                <a:cs typeface="Calibri" pitchFamily="34"/>
              </a:rPr>
              <a:t>Cada detalhe conta. Desde a limpeza dos parques até a vestimenta dos funcionários, tudo é pensado para encantar o visitante.</a:t>
            </a:r>
            <a:endParaRPr lang="pt-BR" sz="140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6F3D149B-B2FC-7C88-65E2-9AD0E6136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8575-68A2-F5DC-C251-DEA2E57A5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824" y="390320"/>
            <a:ext cx="7837340" cy="811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36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O que eu aprendi?</a:t>
            </a:r>
            <a:endParaRPr lang="pt-BR" sz="1200" b="1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7C513-026F-5293-7437-59BEB26C266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3329" y="1673352"/>
            <a:ext cx="7831836" cy="4453128"/>
          </a:xfrm>
        </p:spPr>
        <p:txBody>
          <a:bodyPr/>
          <a:lstStyle/>
          <a:p>
            <a:pPr marL="0" lvl="0" indent="0">
              <a:lnSpc>
                <a:spcPct val="110000"/>
              </a:lnSpc>
              <a:buNone/>
            </a:pPr>
            <a:r>
              <a:rPr lang="pt-BR" sz="24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Foco no cliente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pt-BR">
                <a:latin typeface="Calibri" pitchFamily="34"/>
                <a:ea typeface="Calibri" pitchFamily="34"/>
                <a:cs typeface="Calibri" pitchFamily="34"/>
              </a:rPr>
              <a:t>A Disney considera as necessidades e desejos dos clientes em todas as decisões. A ideia é criar um ambiente onde os visitantes se sintam valorizados. </a:t>
            </a:r>
          </a:p>
          <a:p>
            <a:pPr marL="0" lvl="0" indent="0">
              <a:lnSpc>
                <a:spcPct val="110000"/>
              </a:lnSpc>
              <a:buNone/>
            </a:pPr>
            <a:endParaRPr lang="pt-BR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lvl="0" indent="0">
              <a:lnSpc>
                <a:spcPct val="110000"/>
              </a:lnSpc>
              <a:buNone/>
            </a:pPr>
            <a:r>
              <a:rPr lang="pt-BR" sz="24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Feedback contínuo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pt-BR">
                <a:latin typeface="Calibri" pitchFamily="34"/>
                <a:ea typeface="Calibri" pitchFamily="34"/>
                <a:cs typeface="Calibri" pitchFamily="34"/>
              </a:rPr>
              <a:t>A empresa coleta feedback constantemente para melhorar a experiência. Isso inclui pesquisas de satisfação e escuta ativa nas redes sociais. </a:t>
            </a:r>
          </a:p>
          <a:p>
            <a:pPr marL="0" lvl="0" indent="0">
              <a:lnSpc>
                <a:spcPct val="110000"/>
              </a:lnSpc>
              <a:buNone/>
            </a:pPr>
            <a:endParaRPr lang="pt-BR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lvl="0" indent="0">
              <a:lnSpc>
                <a:spcPct val="110000"/>
              </a:lnSpc>
              <a:buNone/>
            </a:pPr>
            <a:r>
              <a:rPr lang="pt-BR" sz="24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Inovação constante</a:t>
            </a:r>
          </a:p>
          <a:p>
            <a:pPr marL="0" lvl="0" indent="0">
              <a:lnSpc>
                <a:spcPct val="110000"/>
              </a:lnSpc>
              <a:buNone/>
            </a:pPr>
            <a:r>
              <a:rPr lang="pt-BR" sz="1400">
                <a:latin typeface="Calibri" pitchFamily="34"/>
                <a:ea typeface="Calibri" pitchFamily="34"/>
                <a:cs typeface="Calibri" pitchFamily="34"/>
              </a:rPr>
              <a:t>A Disney se reinventa continuamente, trazendo novidades e atualizações que surpreendem os clientes, mantendo a marca relevante.</a:t>
            </a:r>
            <a:endParaRPr lang="pt-BR" sz="150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33424FB-7F4B-5C98-CAED-E8AF5EB71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48E3D-1754-28F3-384A-E6BC9CD53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824" y="390320"/>
            <a:ext cx="7837340" cy="811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36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O que eu aprendi?</a:t>
            </a:r>
            <a:endParaRPr lang="pt-BR" sz="1200" b="1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49A99-A8E8-5EAA-26D0-7BBE950D46E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3329" y="1673352"/>
            <a:ext cx="7831836" cy="4453128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2400" b="1" dirty="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Superação de expectativas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dirty="0">
                <a:latin typeface="Calibri" pitchFamily="34"/>
                <a:ea typeface="Calibri" pitchFamily="34"/>
                <a:cs typeface="Calibri" pitchFamily="34"/>
              </a:rPr>
              <a:t>A Disney visa não apenas atender, mas superar as expectativas dos clientes. Isso se traduz em pequenas surpresas e gestos que encantam. </a:t>
            </a:r>
          </a:p>
          <a:p>
            <a:pPr marL="0" lvl="0" indent="0">
              <a:lnSpc>
                <a:spcPct val="100000"/>
              </a:lnSpc>
              <a:buNone/>
            </a:pPr>
            <a:endParaRPr lang="pt-BR" sz="1200" dirty="0">
              <a:solidFill>
                <a:srgbClr val="282828"/>
              </a:solidFill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200" dirty="0">
              <a:solidFill>
                <a:srgbClr val="282828"/>
              </a:solidFill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200" dirty="0">
              <a:solidFill>
                <a:srgbClr val="282828"/>
              </a:solidFill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200" dirty="0">
              <a:solidFill>
                <a:srgbClr val="282828"/>
              </a:solidFill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pt-BR" sz="1200" dirty="0">
              <a:solidFill>
                <a:srgbClr val="282828"/>
              </a:solidFill>
            </a:endParaRPr>
          </a:p>
          <a:p>
            <a:pPr marL="0" lvl="0" indent="0" algn="just">
              <a:lnSpc>
                <a:spcPct val="100000"/>
              </a:lnSpc>
              <a:buNone/>
            </a:pPr>
            <a:r>
              <a:rPr lang="pt-BR" sz="3100" b="1" dirty="0">
                <a:latin typeface="Calibri" pitchFamily="34"/>
                <a:ea typeface="Calibri" pitchFamily="34"/>
                <a:cs typeface="Calibri" pitchFamily="34"/>
              </a:rPr>
              <a:t>É aqui que eu queria chegar! Me contem histórias que vocês conseguiram superar as expectativas de um cliente através de um atendimento remoto.</a:t>
            </a:r>
            <a:endParaRPr lang="pt-BR" sz="3100" b="1" dirty="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4F904622-754B-5C8E-EF09-62C97CD5F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7C52-2DBB-383C-6A3F-080DA5335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824" y="390320"/>
            <a:ext cx="7837340" cy="811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Empresas referência em atendimento remoto</a:t>
            </a:r>
            <a:endParaRPr lang="pt-BR" sz="1100" b="1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3" name="Picture 2" descr="Logotipo da apple - ícones de logotipo grátis">
            <a:extLst>
              <a:ext uri="{FF2B5EF4-FFF2-40B4-BE49-F238E27FC236}">
                <a16:creationId xmlns:a16="http://schemas.microsoft.com/office/drawing/2014/main" id="{F9F47F1E-B225-F0C5-7EE2-2CD54CC247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4564" y="1648964"/>
            <a:ext cx="2648715" cy="264871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5789EA4-7F3F-87AB-0138-AD9825F16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54555" y="2605655"/>
            <a:ext cx="4754880" cy="1436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logotipo do aplicativo móvel netflix 17396804 PNG">
            <a:extLst>
              <a:ext uri="{FF2B5EF4-FFF2-40B4-BE49-F238E27FC236}">
                <a16:creationId xmlns:a16="http://schemas.microsoft.com/office/drawing/2014/main" id="{B9E15C6F-E69B-E4FE-27EC-8D3C5C96A7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00400" y="4245687"/>
            <a:ext cx="2221991" cy="22219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m 5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47AC79D8-026C-09C5-7D71-1C7AC3950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29D9-EEFD-3917-DFA8-8114B8283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824" y="390320"/>
            <a:ext cx="7837340" cy="81175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36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O que elas tem em comum?</a:t>
            </a:r>
            <a:endParaRPr lang="pt-BR" sz="1200" b="1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ED540-A395-690E-D28B-3B879B5C678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3329" y="1673352"/>
            <a:ext cx="7831836" cy="4864607"/>
          </a:xfrm>
        </p:spPr>
        <p:txBody>
          <a:bodyPr/>
          <a:lstStyle/>
          <a:p>
            <a:pPr marL="0" lvl="0" indent="0">
              <a:lnSpc>
                <a:spcPct val="100000"/>
              </a:lnSpc>
              <a:buNone/>
            </a:pPr>
            <a:r>
              <a:rPr lang="pt-BR" sz="20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Foco no cliente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1400"/>
              <a:t>Colocar o cliente no centro de todas as decisões. Entender suas necessidades e desejos é fundamental para criar experiências positivas. </a:t>
            </a:r>
          </a:p>
          <a:p>
            <a:pPr marL="0" lvl="0" indent="0">
              <a:lnSpc>
                <a:spcPct val="100000"/>
              </a:lnSpc>
              <a:buNone/>
            </a:pPr>
            <a:endParaRPr lang="pt-BR" sz="140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20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Cultura de atendimento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1400"/>
              <a:t>Promover uma cultura organizacional que valorize e priorize o atendimento ao cliente em todos os níveis. </a:t>
            </a:r>
          </a:p>
          <a:p>
            <a:pPr marL="0" lvl="0" indent="0">
              <a:lnSpc>
                <a:spcPct val="100000"/>
              </a:lnSpc>
              <a:buNone/>
            </a:pPr>
            <a:endParaRPr lang="pt-BR" sz="140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20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Personalização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1200"/>
              <a:t>Oferecer experiências personalizadas, mostrando que a empresa valoriza cada cliente como um indivíduo. </a:t>
            </a:r>
          </a:p>
          <a:p>
            <a:pPr marL="0" lvl="0" indent="0">
              <a:lnSpc>
                <a:spcPct val="100000"/>
              </a:lnSpc>
              <a:buNone/>
            </a:pPr>
            <a:endParaRPr lang="pt-BR" sz="120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pt-BR" sz="2100" b="1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Consistência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pt-BR" sz="1200"/>
              <a:t>Manter um padrão elevado de atendimento em todos os canais e pontos de contato, garantindo uma experiência uniforme</a:t>
            </a:r>
            <a:endParaRPr lang="pt-BR" sz="1300">
              <a:solidFill>
                <a:srgbClr val="282828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4607DD65-CCDF-CEB8-7F56-165904CC4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10736-6519-B8D8-77AA-E57DD02254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329" y="2048256"/>
            <a:ext cx="7804870" cy="33924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5400" b="1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Compartilhem experiências ruins que vocês tiveram com atendimento remoto </a:t>
            </a:r>
            <a:r>
              <a:rPr lang="pt-BR" sz="5400" b="1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  <a:sym typeface="Wingdings" panose="05000000000000000000" pitchFamily="2" charset="2"/>
              </a:rPr>
              <a:t></a:t>
            </a:r>
            <a:endParaRPr lang="pt-BR" sz="2200" b="1" dirty="0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AAB7FC-5CE7-6DEA-8073-FC2DD09B1564}"/>
              </a:ext>
            </a:extLst>
          </p:cNvPr>
          <p:cNvSpPr txBox="1"/>
          <p:nvPr/>
        </p:nvSpPr>
        <p:spPr>
          <a:xfrm>
            <a:off x="653329" y="502920"/>
            <a:ext cx="7837340" cy="665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Hora de compartilhar histórias</a:t>
            </a:r>
            <a:endParaRPr lang="pt-BR" sz="12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255E04E4-AB0C-B5A8-5946-74D874BFC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E56FF-18B6-BFF0-1187-D1BC087877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329" y="2048256"/>
            <a:ext cx="7804870" cy="33924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54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Compartilhem experiências incríveis que vocês tiveram com atendimento remoto &lt;3</a:t>
            </a:r>
            <a:endParaRPr lang="pt-BR" sz="2200" b="1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739AE8-8AF9-E27F-5CDE-F54FF695CDF8}"/>
              </a:ext>
            </a:extLst>
          </p:cNvPr>
          <p:cNvSpPr txBox="1"/>
          <p:nvPr/>
        </p:nvSpPr>
        <p:spPr>
          <a:xfrm>
            <a:off x="653329" y="502920"/>
            <a:ext cx="7837340" cy="665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Hora de compartilhar histórias</a:t>
            </a:r>
            <a:endParaRPr lang="pt-BR" sz="12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FD5C5A7F-9097-5F9E-2A6B-131844633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F9C6-21A5-7EF6-3AD3-572F87CCD1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3329" y="588242"/>
            <a:ext cx="7837340" cy="126593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3600" b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Atendimento bom não é só simpatia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E677D-A0FF-FDA9-ED36-01B5CA6B0B5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8368" y="2157984"/>
            <a:ext cx="7831836" cy="2176272"/>
          </a:xfrm>
        </p:spPr>
        <p:txBody>
          <a:bodyPr/>
          <a:lstStyle/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Ser educado não é diferencial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Atendimento bom entrega clareza e direção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Atendimento excelente gera confiança</a:t>
            </a:r>
          </a:p>
          <a:p>
            <a:pPr lvl="0"/>
            <a:r>
              <a:rPr lang="pt-BR" sz="2000">
                <a:solidFill>
                  <a:srgbClr val="282828"/>
                </a:solidFill>
                <a:latin typeface="Calibri" pitchFamily="34"/>
                <a:ea typeface="Calibri" pitchFamily="34"/>
                <a:cs typeface="Calibri" pitchFamily="34"/>
              </a:rPr>
              <a:t>Confiança é o ativo mais valioso no relacionamento com clientes</a:t>
            </a: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5D04D3F8-546C-A1C9-E612-0A7B4CB9F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44FA-1D41-722A-43C3-5CB281E81B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9569" y="1673352"/>
            <a:ext cx="7804870" cy="351129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É importante, sempre que necessário, usar a técnica do CTA nas comunicações remotas, principalmente por WhatsApp ou e-mail.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O CTA nos ajuda a garantir que sempre teremos uma resposta do cliente sobre algum comunicado ou ação que tenhamos realizados.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Exemplo: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- Estou aqui para informar </a:t>
            </a:r>
            <a:r>
              <a:rPr lang="pt-BR" sz="2200" dirty="0" err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xpto</a:t>
            </a:r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, e queria saber se todos estão de acordo - o que vocês acham dessa informação?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2CC867-6DAE-ABFA-747B-CBDB35202877}"/>
              </a:ext>
            </a:extLst>
          </p:cNvPr>
          <p:cNvSpPr txBox="1"/>
          <p:nvPr/>
        </p:nvSpPr>
        <p:spPr>
          <a:xfrm>
            <a:off x="653329" y="502920"/>
            <a:ext cx="7837340" cy="665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Call to action</a:t>
            </a:r>
            <a:endParaRPr lang="pt-BR" sz="12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5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A712E86C-D925-6E9D-D62D-42D48C327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9BAA-E7B5-A73B-8B89-F23D7CB13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9569" y="1636776"/>
            <a:ext cx="7804870" cy="23317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24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- Envio de mensagens através da Vekta</a:t>
            </a:r>
            <a:br>
              <a:rPr lang="pt-BR" sz="24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4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4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- Utilizar templates</a:t>
            </a:r>
            <a:br>
              <a:rPr lang="pt-BR" sz="24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4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4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- Ver com os colegas mensagens padrões que utilizam em cada situação e adaptar para começar a utilizar também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66D182-5FE5-F0B1-FF28-866F79D247BF}"/>
              </a:ext>
            </a:extLst>
          </p:cNvPr>
          <p:cNvSpPr txBox="1"/>
          <p:nvPr/>
        </p:nvSpPr>
        <p:spPr>
          <a:xfrm>
            <a:off x="653329" y="502920"/>
            <a:ext cx="7837340" cy="665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Estratégias para otimizar tempo</a:t>
            </a:r>
            <a:endParaRPr lang="pt-BR" sz="12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42C49B05-E19E-EEBC-6A60-28E27D496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5A35E-BF91-2C1D-9E14-5EF5991AB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28216"/>
            <a:ext cx="7804870" cy="3941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A personalização é uma importante aliada para a satisfação dos clientes.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Clientes que se sentem importantes tendem a ser promotores.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Onde é possível personalizar?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	● Mensagens no WhatsApp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	● E-mails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	● Ligações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	● Reuniões remotas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2EC1BD-CA64-1069-BAA4-912516ED8317}"/>
              </a:ext>
            </a:extLst>
          </p:cNvPr>
          <p:cNvSpPr txBox="1"/>
          <p:nvPr/>
        </p:nvSpPr>
        <p:spPr>
          <a:xfrm>
            <a:off x="653329" y="502920"/>
            <a:ext cx="7837340" cy="665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Personalização</a:t>
            </a:r>
            <a:endParaRPr lang="pt-BR" sz="12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B4714328-43C6-6220-CC14-1FECD7E8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F6979-2083-81C0-BEF3-8E38DC3C00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28216"/>
            <a:ext cx="7804870" cy="3941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lvl="0"/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● Priorização de tarefas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● Blocos de tempo (Pomodoro 25’ 5’)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● Metas diárias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● Ferramentas de gestão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● Registros</a:t>
            </a: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● Bem estar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0AE227-872F-46BA-815F-F1A250493FB8}"/>
              </a:ext>
            </a:extLst>
          </p:cNvPr>
          <p:cNvSpPr txBox="1"/>
          <p:nvPr/>
        </p:nvSpPr>
        <p:spPr>
          <a:xfrm>
            <a:off x="653329" y="502920"/>
            <a:ext cx="7837340" cy="665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Gestão/organização</a:t>
            </a:r>
            <a:endParaRPr lang="pt-BR" sz="12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1B8C8CE3-7C07-B350-B620-0F129426A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71281-32E2-6D58-A179-831B5EDD1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04DB-1942-03B0-1E7A-7C2049E020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728216"/>
            <a:ext cx="7804870" cy="435254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rmAutofit fontScale="90000"/>
          </a:bodyPr>
          <a:lstStyle/>
          <a:p>
            <a:pPr lvl="0"/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1ª - WhatsApp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2ª - </a:t>
            </a:r>
            <a:r>
              <a:rPr lang="pt-BR" sz="2200" dirty="0" err="1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Vekta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3ª - E-mail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4ª - Tarefas do RD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  <a:t>5ª - Demandas do dia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r>
              <a:rPr lang="pt-BR" sz="3600" dirty="0">
                <a:solidFill>
                  <a:schemeClr val="tx1"/>
                </a:solidFill>
                <a:highlight>
                  <a:srgbClr val="FFFF00"/>
                </a:highlight>
                <a:latin typeface="Calibri" pitchFamily="34"/>
                <a:ea typeface="Calibri" pitchFamily="34"/>
                <a:cs typeface="Calibri" pitchFamily="34"/>
              </a:rPr>
              <a:t>TMR: 20 minutos</a:t>
            </a:r>
            <a:br>
              <a:rPr lang="pt-BR" sz="2200" dirty="0">
                <a:solidFill>
                  <a:srgbClr val="000000"/>
                </a:solidFill>
                <a:latin typeface="Calibri" pitchFamily="34"/>
                <a:ea typeface="Calibri" pitchFamily="34"/>
                <a:cs typeface="Calibri" pitchFamily="34"/>
              </a:rPr>
            </a:br>
            <a:endParaRPr lang="pt-BR" sz="2200" dirty="0">
              <a:solidFill>
                <a:srgbClr val="000000"/>
              </a:solidFill>
              <a:latin typeface="Calibri" pitchFamily="34"/>
              <a:ea typeface="Calibri" pitchFamily="34"/>
              <a:cs typeface="Calibri" pitchFamily="3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5FA5A39-BE6B-E276-6FD9-D0EBFF0FC132}"/>
              </a:ext>
            </a:extLst>
          </p:cNvPr>
          <p:cNvSpPr txBox="1"/>
          <p:nvPr/>
        </p:nvSpPr>
        <p:spPr>
          <a:xfrm>
            <a:off x="653329" y="502920"/>
            <a:ext cx="7837340" cy="66545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 dirty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Priorização das atividades</a:t>
            </a:r>
            <a:endParaRPr lang="pt-BR" sz="1200" b="1" i="0" u="none" strike="noStrike" kern="1200" cap="none" spc="0" baseline="0" dirty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4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437B7AB8-C32C-F701-B64F-A2EA50E2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08184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A837-1123-F7F9-313B-D9CDB5411CC0}"/>
              </a:ext>
            </a:extLst>
          </p:cNvPr>
          <p:cNvSpPr txBox="1"/>
          <p:nvPr/>
        </p:nvSpPr>
        <p:spPr>
          <a:xfrm>
            <a:off x="653329" y="502920"/>
            <a:ext cx="7850590" cy="546811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8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Atendimento gera confiança. Confiança gera vendas.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8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Vendas sustentáveis geram crescimento.</a:t>
            </a:r>
          </a:p>
        </p:txBody>
      </p:sp>
      <p:pic>
        <p:nvPicPr>
          <p:cNvPr id="3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E7E240D4-3DC5-6111-C0C3-9FDE30912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0DB6-11C2-F477-456D-AF306DF1E517}"/>
              </a:ext>
            </a:extLst>
          </p:cNvPr>
          <p:cNvSpPr txBox="1"/>
          <p:nvPr/>
        </p:nvSpPr>
        <p:spPr>
          <a:xfrm>
            <a:off x="653329" y="502920"/>
            <a:ext cx="7837340" cy="47914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54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Na prática, o que podemos fazer de legal/diferente a partir de agora com nossos clientes?</a:t>
            </a:r>
            <a:endParaRPr lang="pt-BR" sz="20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3" name="Imagem 3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42E28DE1-4885-655B-B645-15A8C3F3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771F-8C6C-5ACD-34F2-09DB79D1C070}"/>
              </a:ext>
            </a:extLst>
          </p:cNvPr>
          <p:cNvSpPr txBox="1"/>
          <p:nvPr/>
        </p:nvSpPr>
        <p:spPr>
          <a:xfrm>
            <a:off x="653329" y="502920"/>
            <a:ext cx="7521406" cy="546811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5400" b="1" i="0" u="none" strike="noStrike" kern="1200" cap="none" spc="0" baseline="0">
                <a:solidFill>
                  <a:srgbClr val="FFC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Cada um de vocês tem liberdade para surpreender.</a:t>
            </a:r>
            <a:endParaRPr lang="pt-BR" sz="2000" b="1" i="0" u="none" strike="noStrike" kern="1200" cap="none" spc="0" baseline="0">
              <a:solidFill>
                <a:srgbClr val="FFC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3" name="Imagem 1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224ED3E-577E-B0DB-3F9F-CBFC8B6A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3" y="6208776"/>
            <a:ext cx="1054604" cy="5250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B26C-509D-AB53-F628-3CD231C98DD7}"/>
              </a:ext>
            </a:extLst>
          </p:cNvPr>
          <p:cNvSpPr txBox="1"/>
          <p:nvPr/>
        </p:nvSpPr>
        <p:spPr>
          <a:xfrm>
            <a:off x="571033" y="621792"/>
            <a:ext cx="7837340" cy="62887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600" b="1" i="0" u="none" strike="noStrike" kern="1200" cap="none" spc="0" baseline="0">
                <a:solidFill>
                  <a:srgbClr val="000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Dicas de conteúdos</a:t>
            </a:r>
            <a:endParaRPr lang="pt-BR" sz="1200" b="1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3" name="Picture 2" descr="Customer Success - O Sucesso das Empresas Focadas em Clientes">
            <a:extLst>
              <a:ext uri="{FF2B5EF4-FFF2-40B4-BE49-F238E27FC236}">
                <a16:creationId xmlns:a16="http://schemas.microsoft.com/office/drawing/2014/main" id="{AB2E1C1B-CA7B-9D1C-E282-3CABD0D1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3893" y="2130551"/>
            <a:ext cx="2525152" cy="363016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O jeito Disney de encantar os clientes: Do atendimento excepcional ao nunca  parar de crescer e acreditar | Amazon.com.br">
            <a:extLst>
              <a:ext uri="{FF2B5EF4-FFF2-40B4-BE49-F238E27FC236}">
                <a16:creationId xmlns:a16="http://schemas.microsoft.com/office/drawing/2014/main" id="{37A95FD8-3FE5-03EB-42EF-1BC898FB63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55303" y="2130551"/>
            <a:ext cx="2428518" cy="363016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72364BF-563E-32E8-6776-B6CC1549BB1E}"/>
              </a:ext>
            </a:extLst>
          </p:cNvPr>
          <p:cNvSpPr txBox="1"/>
          <p:nvPr/>
        </p:nvSpPr>
        <p:spPr>
          <a:xfrm>
            <a:off x="5543723" y="3945635"/>
            <a:ext cx="3550450" cy="37490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i="0" u="none" strike="noStrike" kern="0" cap="none" spc="0" baseline="0">
                <a:solidFill>
                  <a:srgbClr val="000000"/>
                </a:solidFill>
                <a:uFillTx/>
                <a:latin typeface="Calibri" pitchFamily="34"/>
                <a:ea typeface="Calibri" pitchFamily="34"/>
                <a:cs typeface="Calibri" pitchFamily="34"/>
              </a:rPr>
              <a:t>https://www.youtube.com/watch?v=zZmJQW80Ab0</a:t>
            </a:r>
            <a:endParaRPr lang="pt-BR" sz="1200" b="1" i="0" u="none" strike="noStrike" kern="1200" cap="none" spc="0" baseline="0">
              <a:solidFill>
                <a:srgbClr val="000000"/>
              </a:solidFill>
              <a:uFillTx/>
              <a:latin typeface="Calibri" pitchFamily="34"/>
              <a:ea typeface="Calibri" pitchFamily="34"/>
              <a:cs typeface="Calibri" pitchFamily="34"/>
            </a:endParaRPr>
          </a:p>
        </p:txBody>
      </p:sp>
      <p:pic>
        <p:nvPicPr>
          <p:cNvPr id="6" name="Imagem 6">
            <a:extLst>
              <a:ext uri="{FF2B5EF4-FFF2-40B4-BE49-F238E27FC236}">
                <a16:creationId xmlns:a16="http://schemas.microsoft.com/office/drawing/2014/main" id="{9178F4D2-10B8-EBB3-FACC-2F36EA137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0079" y="2163342"/>
            <a:ext cx="3277749" cy="1782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769</Words>
  <Application>Microsoft Office PowerPoint</Application>
  <PresentationFormat>Apresentação na tela (4:3)</PresentationFormat>
  <Paragraphs>85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Aptos</vt:lpstr>
      <vt:lpstr>Aptos Light</vt:lpstr>
      <vt:lpstr>Arial</vt:lpstr>
      <vt:lpstr>Calibri</vt:lpstr>
      <vt:lpstr>Neue Haas Grotesk Text Pro</vt:lpstr>
      <vt:lpstr>Walbaum Display</vt:lpstr>
      <vt:lpstr>BohoVogueVTI</vt:lpstr>
      <vt:lpstr>Atendimento ao Cliente</vt:lpstr>
      <vt:lpstr>Apresentação do PowerPoint</vt:lpstr>
      <vt:lpstr>Por que estamos falando disso?</vt:lpstr>
      <vt:lpstr>Canais de atendimento Remoto</vt:lpstr>
      <vt:lpstr>Prestar muita atenção no que o cliente precisa.</vt:lpstr>
      <vt:lpstr>Apresentação do PowerPoint</vt:lpstr>
      <vt:lpstr>O que eu aprendi?</vt:lpstr>
      <vt:lpstr>O que eu aprendi?</vt:lpstr>
      <vt:lpstr>O que eu aprendi?</vt:lpstr>
      <vt:lpstr>Empresas referência em atendimento remoto</vt:lpstr>
      <vt:lpstr>O que elas tem em comum?</vt:lpstr>
      <vt:lpstr>Compartilhem experiências ruins que vocês tiveram com atendimento remoto </vt:lpstr>
      <vt:lpstr>Compartilhem experiências incríveis que vocês tiveram com atendimento remoto &lt;3</vt:lpstr>
      <vt:lpstr>Atendimento bom não é só simpatia</vt:lpstr>
      <vt:lpstr>É importante, sempre que necessário, usar a técnica do CTA nas comunicações remotas, principalmente por WhatsApp ou e-mail.  O CTA nos ajuda a garantir que sempre teremos uma resposta do cliente sobre algum comunicado ou ação que tenhamos realizados.  Exemplo:  - Estou aqui para informar xpto, e queria saber se todos estão de acordo - o que vocês acham dessa informação?</vt:lpstr>
      <vt:lpstr>- Envio de mensagens através da Vekta  - Utilizar templates  - Ver com os colegas mensagens padrões que utilizam em cada situação e adaptar para começar a utilizar também</vt:lpstr>
      <vt:lpstr>A personalização é uma importante aliada para a satisfação dos clientes.  Clientes que se sentem importantes tendem a ser promotores.  Onde é possível personalizar?   ● Mensagens no WhatsApp  ● E-mails  ● Ligações  ● Reuniões remotas</vt:lpstr>
      <vt:lpstr>● Priorização de tarefas  ● Blocos de tempo (Pomodoro 25’ 5’)  ● Metas diárias  ● Ferramentas de gestão  ● Registros  ● Bem estar</vt:lpstr>
      <vt:lpstr>1ª - WhatsApp  2ª - Vekta  3ª - E-mail  4ª - Tarefas do RD  5ª - Demandas do dia   TMR: 20 minutos 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joao.vitor</dc:creator>
  <dc:description>generated using python-pptx</dc:description>
  <cp:lastModifiedBy>João Vitor Tadra</cp:lastModifiedBy>
  <cp:revision>40</cp:revision>
  <dcterms:created xsi:type="dcterms:W3CDTF">2013-01-27T09:14:16Z</dcterms:created>
  <dcterms:modified xsi:type="dcterms:W3CDTF">2026-04-09T15:00:03Z</dcterms:modified>
</cp:coreProperties>
</file>